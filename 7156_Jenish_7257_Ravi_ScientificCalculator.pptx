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2" r:id="rId6"/>
    <p:sldId id="261" r:id="rId7"/>
    <p:sldId id="259" r:id="rId8"/>
    <p:sldId id="264" r:id="rId9"/>
    <p:sldId id="265" r:id="rId10"/>
    <p:sldId id="293" r:id="rId11"/>
    <p:sldId id="272" r:id="rId12"/>
    <p:sldId id="292" r:id="rId13"/>
    <p:sldId id="291" r:id="rId14"/>
    <p:sldId id="306" r:id="rId15"/>
    <p:sldId id="305" r:id="rId16"/>
    <p:sldId id="304" r:id="rId17"/>
    <p:sldId id="303" r:id="rId18"/>
    <p:sldId id="302" r:id="rId19"/>
    <p:sldId id="301" r:id="rId20"/>
    <p:sldId id="300" r:id="rId21"/>
    <p:sldId id="299" r:id="rId22"/>
    <p:sldId id="298" r:id="rId23"/>
    <p:sldId id="273" r:id="rId24"/>
    <p:sldId id="295" r:id="rId25"/>
    <p:sldId id="277" r:id="rId26"/>
    <p:sldId id="296" r:id="rId27"/>
    <p:sldId id="276" r:id="rId28"/>
    <p:sldId id="297" r:id="rId29"/>
    <p:sldId id="275" r:id="rId30"/>
    <p:sldId id="25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C9B41-BC3C-4C05-AF7B-5F54E2B8CF67}" v="148" dt="2026-01-24T09:45:31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jg.scientificcalculator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" TargetMode="External"/><Relationship Id="rId3" Type="http://schemas.openxmlformats.org/officeDocument/2006/relationships/hyperlink" Target="https://developer.android.com/" TargetMode="External"/><Relationship Id="rId7" Type="http://schemas.openxmlformats.org/officeDocument/2006/relationships/hyperlink" Target="https://www.w3schools.com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qlite.org/docs.html" TargetMode="External"/><Relationship Id="rId5" Type="http://schemas.openxmlformats.org/officeDocument/2006/relationships/hyperlink" Target="https://material.io/design" TargetMode="External"/><Relationship Id="rId4" Type="http://schemas.openxmlformats.org/officeDocument/2006/relationships/hyperlink" Target="https://docs.oracle.com/javase/" TargetMode="External"/><Relationship Id="rId9" Type="http://schemas.openxmlformats.org/officeDocument/2006/relationships/hyperlink" Target="https://stackoverflow.com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1;p15"/>
          <p:cNvSpPr txBox="1">
            <a:spLocks noChangeArrowheads="1"/>
          </p:cNvSpPr>
          <p:nvPr/>
        </p:nvSpPr>
        <p:spPr bwMode="auto">
          <a:xfrm>
            <a:off x="1663150" y="2169772"/>
            <a:ext cx="8339266" cy="2031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CIENTIFIC CALCULATOR</a:t>
            </a:r>
            <a:endParaRPr lang="en-US" alt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BEF50-4EAB-C765-32FB-39EF17AC4668}"/>
              </a:ext>
            </a:extLst>
          </p:cNvPr>
          <p:cNvSpPr txBox="1"/>
          <p:nvPr/>
        </p:nvSpPr>
        <p:spPr>
          <a:xfrm>
            <a:off x="6176865" y="4058817"/>
            <a:ext cx="3816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Calculations</a:t>
            </a:r>
          </a:p>
        </p:txBody>
      </p:sp>
    </p:spTree>
    <p:extLst>
      <p:ext uri="{BB962C8B-B14F-4D97-AF65-F5344CB8AC3E}">
        <p14:creationId xmlns:p14="http://schemas.microsoft.com/office/powerpoint/2010/main" val="46918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FCAB0-0255-9F2E-4A11-7C48BA91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1;p15">
            <a:extLst>
              <a:ext uri="{FF2B5EF4-FFF2-40B4-BE49-F238E27FC236}">
                <a16:creationId xmlns:a16="http://schemas.microsoft.com/office/drawing/2014/main" id="{670B44D3-469D-6243-63EF-07B7D927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1124744"/>
            <a:ext cx="11884899" cy="129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Submitted By :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Jenish Gohel   (92300527156)	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Ravi Sav          (92300527257)			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27D5C-9D8F-015A-B63A-236C8123ADD2}"/>
              </a:ext>
            </a:extLst>
          </p:cNvPr>
          <p:cNvSpPr txBox="1"/>
          <p:nvPr/>
        </p:nvSpPr>
        <p:spPr>
          <a:xfrm>
            <a:off x="615820" y="2929812"/>
            <a:ext cx="9153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Internal Guide: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Prof. Tejas Chauhan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Faculty of Computer Applications.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D295E-0781-2108-B1B2-0EDBD02FCA30}"/>
              </a:ext>
            </a:extLst>
          </p:cNvPr>
          <p:cNvSpPr txBox="1"/>
          <p:nvPr/>
        </p:nvSpPr>
        <p:spPr>
          <a:xfrm>
            <a:off x="587828" y="4665307"/>
            <a:ext cx="9619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🏫 Institution Address: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Marwadi University,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Rajkot - Morbi Road,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At &amp; PO: Gauridad, Rajkot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28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354A4-5D4C-2261-EB1F-D1293234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005CB14-CD60-C6DF-3D6C-0AD945FC6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3589" y="538962"/>
            <a:ext cx="29460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2142BE8F-3347-FC71-FFD4-17B6D29AE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62" y="1340984"/>
            <a:ext cx="10877193" cy="4924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world, calculators have evolved from simple arithmetic tools to powerful applications capable of handling complex computations. To meet this growing demand, we have developed an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Android-based Scientific Calculator Application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accurate results, an intuitive interface, and multiple calculation utilities in a single app.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designed to serve students, professionals, and general users by offering different types of calculators under one platform. The key calculation modules included in this application are: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Calculator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basic arithmetic operations such as addition, subtraction, multiplication, and division.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advanced mathematical operations such as trigonometric functions (sin, cos, tan), logarithmic functions (log, ln), square root, power functions, and degree/radian mode.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Calculator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exact age of a user based on the provided date of birth.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Calculator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interest and total payable loan amount based on principal amount, rate of interest, and time period.</a:t>
            </a:r>
          </a:p>
          <a:p>
            <a:pPr marL="914400" lvl="2" indent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developed using Java and XML in Android Studio, following standard Android UI and coding practices. It features a navigation drawer, calculation history, offline functionality, and a clean, modern user interface. The app has been successfully deployed on the Google Play Store and is currently being used by real users.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practical application of Android development concepts and delivers a reliable, real-world mobile solution.</a:t>
            </a:r>
          </a:p>
        </p:txBody>
      </p:sp>
    </p:spTree>
    <p:extLst>
      <p:ext uri="{BB962C8B-B14F-4D97-AF65-F5344CB8AC3E}">
        <p14:creationId xmlns:p14="http://schemas.microsoft.com/office/powerpoint/2010/main" val="130278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6EE9E-4172-FD0F-A2BF-14C0A5D2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88E625FE-5008-5161-2A79-13CE00BF9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78" y="509482"/>
            <a:ext cx="7857444" cy="61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 STORE DEPLOYMENT DETAILS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71;p15">
            <a:extLst>
              <a:ext uri="{FF2B5EF4-FFF2-40B4-BE49-F238E27FC236}">
                <a16:creationId xmlns:a16="http://schemas.microsoft.com/office/drawing/2014/main" id="{41E204EF-F472-FDA5-3FF4-D468D9EAA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00" y="1358009"/>
            <a:ext cx="10989160" cy="3847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calculator application has been successfully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on the Google Play Store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publicly accessible to users worldwide. This deployment confirms that the application meets Google’s quality, performance, and security standards.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Play Store Details: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Calculator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(Google Play Store)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Status: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Published &amp; Live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(Anyone can download)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Type: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Application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Store Link: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https://play.google.com/store/apps/details?id=com.jg.scientificcalculator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officially uploaded and approved by Google Play.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available for real users and has active downloads.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calculator features work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reliability.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 and improvements can be pushed through the Play Store.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deployment transforms the project from an academic application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production-level Android 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915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C3E19-30DD-C19B-445B-0AA4939E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6C9B791-5DC3-89FD-401F-5DF27A781D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622" y="585614"/>
            <a:ext cx="64637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71;p15">
            <a:extLst>
              <a:ext uri="{FF2B5EF4-FFF2-40B4-BE49-F238E27FC236}">
                <a16:creationId xmlns:a16="http://schemas.microsoft.com/office/drawing/2014/main" id="{2F9414ED-9CF4-AC74-43EE-9BEA418AA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526" y="1227379"/>
            <a:ext cx="11082467" cy="5201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developing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 Android Application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 follows: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user-friendly calculator application with a clean and intuitive interface.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basic arithmetic calculations such as addition, subtraction, multiplication, and division.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advanced scientific operations including trigonometric, logarithmic, exponential, and power functions.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include multiple calculators such as: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&amp; Scientific Calculator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Calculator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Calculator</a:t>
            </a:r>
          </a:p>
          <a:p>
            <a:pPr marL="1257300" lvl="2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calculation history for quick reuse of previous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accurate and fast calculations with support for multiple operands.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application that works offline without internet dependency.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modern Android UI using Material Design principles.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deploy the application on the Google Play Store for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34833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836E3-A24E-7077-1BDD-EC7FB9BC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EC42E21-A649-095B-00F9-7B4177B8B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4177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ECHNOLOGIES USED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585C0-E793-F91D-329C-AA00D5AC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4" y="1049021"/>
            <a:ext cx="1007706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technologies and tools were used in the development of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 Android Application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implementing application logic, calculations, and event handling.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SDK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core APIs for building Android applications.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used for coding, debugging, testing, and deployment.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designing user interface layouts and defining UI components.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and manage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history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locally on the device.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Components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creating a modern, responsive, and visually appealing UI.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Drawer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to provide smooth navigation between multiple calculators.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Play Console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publishing, managing, and updating the application on the Play Store.</a:t>
            </a:r>
          </a:p>
        </p:txBody>
      </p:sp>
    </p:spTree>
    <p:extLst>
      <p:ext uri="{BB962C8B-B14F-4D97-AF65-F5344CB8AC3E}">
        <p14:creationId xmlns:p14="http://schemas.microsoft.com/office/powerpoint/2010/main" val="960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89EC0-F86C-DCD2-B5FE-A7B29905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0C28F43-D085-E935-029B-5B57B85B6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4177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0128888-8BA2-5C79-0818-17E7C4883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0630" y="1068517"/>
            <a:ext cx="1079551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Multi-Calculator Application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Basic Calculator, Scientific Calculator, Age Calculator, and Loan Calculator in a single app.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Arithmetic Operations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Supports addition, subtraction, multiplication, and division.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Scientific Operations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functions: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sin, cos, tan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Logarithmic functions: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log, ln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Power, square, cube, and square root calculations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 &amp; Radian Mode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Allows users to switch between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modes for trigonometric calculations.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 History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Automatically saves calculations and allows users to reuse previous results.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Clean, modern UI with Material Design components.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Navigation Drawer Support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Easy navigation between different calculators using a side menu.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Works completely offline without internet connection.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&amp; Fast Performance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Provides precise results with instant response time.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 Store Published Application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Successfully uploaded on Google Play Store and available for public download.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7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F7D5D-6D3A-BEA5-25CC-D3858CE1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E95A378-C7E0-B582-0374-0BECEE268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558662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 CALCULATOR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C230F-9D10-0891-8495-38FA6064B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63" y="1101598"/>
            <a:ext cx="816428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Scientific Calculator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mathematical and trigonometric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 expressions and multiple operands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Age Calculator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age in years, months, and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input design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Loan Calculator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Amount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Interest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Payable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in an attractive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History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previous calculations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reuse past results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Navigation Drawer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between different calculator modules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About Us section</a:t>
            </a:r>
          </a:p>
        </p:txBody>
      </p:sp>
    </p:spTree>
    <p:extLst>
      <p:ext uri="{BB962C8B-B14F-4D97-AF65-F5344CB8AC3E}">
        <p14:creationId xmlns:p14="http://schemas.microsoft.com/office/powerpoint/2010/main" val="248022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2939B-C5E9-98A1-BF13-2C46A4AE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506F84D-51E7-7234-E600-6615D55C8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88499"/>
            <a:ext cx="5586623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DESCRIPTION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32352C99-5BEB-E6C7-B0F1-90F494240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41" y="1086920"/>
            <a:ext cx="11698287" cy="5647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1). 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( User Side ) 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 : Android Smartphone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: Any standard mobile processor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: Minimum 2 GB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Storage : Minimum 20 MB free space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Type : 64-bit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Method : Touch Screen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: Any standard smartphone display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2).  Software Requirements ( User Side ) 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 Android 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Android Version : Android 6.0 (Marshmallow) or above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Type : Mobile Application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Source : Google Play Store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Requirement : Required only for download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 : Offline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Environment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: Android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: Utility Application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: Touch-based graphical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SQLite (internal, invisible to user)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Devices : Android smartphones and tablets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Screen Sizes : All standard Android screen sizes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Orientation : Portrait Mode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771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6C708-F172-2975-9773-18AC98BC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0E093A0-7D1B-3C65-8077-8ABB04040C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FEATURE SCREEN DESIGN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3B1FF-E893-65BC-8397-020CEED27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3363" y="1848567"/>
            <a:ext cx="7620000" cy="372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2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0F337-AD45-3EF2-425D-9963FCAD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A0442CB-E729-5C2E-58F5-71BAE788C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LOGO PICTURE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7D39AF-3D7C-EED2-CF47-A63504D7B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4437" y="1464908"/>
            <a:ext cx="4593825" cy="489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63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DE15A-80DE-9D27-B374-9CBBBDA9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991D578-D398-0A9A-6AC3-03563BBE0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SCIENTIFIC CALCULATOR SCREEN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02E888-29DB-BF00-7BB5-1637A11834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360" y="1259631"/>
            <a:ext cx="2985797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B556CE-05C5-11CB-6425-256F79FD1D41}"/>
              </a:ext>
            </a:extLst>
          </p:cNvPr>
          <p:cNvSpPr txBox="1"/>
          <p:nvPr/>
        </p:nvSpPr>
        <p:spPr>
          <a:xfrm>
            <a:off x="5253135" y="3256383"/>
            <a:ext cx="544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is main screen that comes when you start application and its actual screen for Basic and Scientific Calculations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979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1F1D5-2664-503B-127A-BA6E0DA1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F522936-3F2B-354F-BCB4-20AA7DA3D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CALCULATION SCREEN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CC21A0-A8D4-C8FB-A251-9DDC64027F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359" y="1250301"/>
            <a:ext cx="300679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922AD6-D424-469C-6006-3A9398798893}"/>
              </a:ext>
            </a:extLst>
          </p:cNvPr>
          <p:cNvSpPr txBox="1"/>
          <p:nvPr/>
        </p:nvSpPr>
        <p:spPr>
          <a:xfrm>
            <a:off x="5253135" y="3256383"/>
            <a:ext cx="544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is main screen it self where all calculations are possible basic to scientific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1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46642-F66A-62E2-712E-52CAA062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32ECB07-6302-21AF-A0B5-BD62409A7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HISTORY SCREEN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6B425-8EBD-F64F-DFB3-1D36CFE14A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B777FD-C97F-AE34-8005-500E6308662F}"/>
              </a:ext>
            </a:extLst>
          </p:cNvPr>
          <p:cNvSpPr txBox="1"/>
          <p:nvPr/>
        </p:nvSpPr>
        <p:spPr>
          <a:xfrm>
            <a:off x="5253135" y="3256383"/>
            <a:ext cx="544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shows all basic to scientific calculations history with its expression and user can also reuse that expression by clicking on that.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32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A4FD5-79B9-3016-7CED-34B3521D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931F22C4-5355-8A60-8657-85FFD1270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DRWAER MENU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1806BD-8322-35F6-9B0A-ABB508A25C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08330D-B216-8C11-C257-4A115909D086}"/>
              </a:ext>
            </a:extLst>
          </p:cNvPr>
          <p:cNvSpPr txBox="1"/>
          <p:nvPr/>
        </p:nvSpPr>
        <p:spPr>
          <a:xfrm>
            <a:off x="5253135" y="3256383"/>
            <a:ext cx="5449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drawer menu of our app that contains 4 options as :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Calculator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Calculator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19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5F9C6-8A15-E14C-ED5F-F2B0B87A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3EB7C20-5766-6BCD-8717-B0EC8A940C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LOAN CALCULATOR SCREEN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E3A0A1-B55A-DBCC-2732-26EE5C5106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ADEF2-E2AB-A0B2-078E-52F12FE7ED30}"/>
              </a:ext>
            </a:extLst>
          </p:cNvPr>
          <p:cNvSpPr txBox="1"/>
          <p:nvPr/>
        </p:nvSpPr>
        <p:spPr>
          <a:xfrm>
            <a:off x="5253135" y="3256383"/>
            <a:ext cx="5449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is Loan Calculator initial screen with 3 input fields for Amount , Rate of Interest and Number of Years with final CALCULATE Button for final result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13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232D1-58C8-CA97-1B98-84E0B28F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2E029CA-86E4-A21E-CF23-089C2CE1A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LOAN CALCULATION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5DDE91-92ED-662B-1C0D-1C7A0101D5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AD121D-69D1-5C43-4A22-5C8D2E84AD96}"/>
              </a:ext>
            </a:extLst>
          </p:cNvPr>
          <p:cNvSpPr txBox="1"/>
          <p:nvPr/>
        </p:nvSpPr>
        <p:spPr>
          <a:xfrm>
            <a:off x="5253135" y="3256383"/>
            <a:ext cx="544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shows Loan calculation with its given inputs and for that inputs its corresponding outputs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215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4EF82-B8F8-8DC7-D6CE-B5C63843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A00908B-C40A-A96B-C577-C8AE3B0B6C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AGE CALCULATOR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983291-E732-64CE-0744-0353715E56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973CC4-4CD8-9322-421B-A8F4ED0F31E5}"/>
              </a:ext>
            </a:extLst>
          </p:cNvPr>
          <p:cNvSpPr txBox="1"/>
          <p:nvPr/>
        </p:nvSpPr>
        <p:spPr>
          <a:xfrm>
            <a:off x="5253135" y="3256383"/>
            <a:ext cx="5449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is Age Calculators initial screen with input field for entering Date if Birth and one CALCULATE AGE button to calculate and display result.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60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033BF-9CA0-7182-B2C0-8716CB80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A18FB23-AC43-8F7E-FA36-E9360D6EE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DATE OF BIRTH ENTERING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ED4804-3299-4FCD-9D02-92C00CF669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72EC95-45A0-E59E-7E01-344092F84D5D}"/>
              </a:ext>
            </a:extLst>
          </p:cNvPr>
          <p:cNvSpPr txBox="1"/>
          <p:nvPr/>
        </p:nvSpPr>
        <p:spPr>
          <a:xfrm>
            <a:off x="5253135" y="3256383"/>
            <a:ext cx="544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shows how Date of Birth user can select for calculate His / Her 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18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DCF93-2C65-A10D-160B-514355E7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E30F3DA-DEBD-DC6F-2C3D-3B91FC9AE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AGE CALCULATION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6D2C1-585A-7A63-1918-2A63DA5A31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03594-C3CB-99F9-892B-12F92538D459}"/>
              </a:ext>
            </a:extLst>
          </p:cNvPr>
          <p:cNvSpPr txBox="1"/>
          <p:nvPr/>
        </p:nvSpPr>
        <p:spPr>
          <a:xfrm>
            <a:off x="5253135" y="3256383"/>
            <a:ext cx="544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displays result of user after entering Date of Birth with its Correct Age till today.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343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A5F0E-4910-C67E-D605-F59ECDE3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AC2A6D8-2155-43F3-D54D-E3264FDC1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ABOUT US SCREEN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44CD77-98AF-7342-0C6F-5201A7BC52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19" y="1250301"/>
            <a:ext cx="2981130" cy="529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5D615D-D192-899A-ACD1-E8EEA978107C}"/>
              </a:ext>
            </a:extLst>
          </p:cNvPr>
          <p:cNvSpPr txBox="1"/>
          <p:nvPr/>
        </p:nvSpPr>
        <p:spPr>
          <a:xfrm>
            <a:off x="5253135" y="3256383"/>
            <a:ext cx="544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about us screen that shows Developer Information along with its Internal Guide Information and Short Application Introduction with Version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3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F83E7-A1E9-B046-B50D-085B6931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03A5D8D-8995-6133-31A6-EBE321178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F738ED77-BB6F-ABD9-11B8-96D9A9F3B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10" y="1098389"/>
            <a:ext cx="11698287" cy="535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Calculator application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calculation history.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is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lightweight, fast, and suitable for mobile applications.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Type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Location : Internal storage of the Android device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: Offline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: Application-only (not visible to users)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calculation history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view previous calculations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reuse of past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user convenience and efficiency</a:t>
            </a:r>
          </a:p>
          <a:p>
            <a:pPr marL="457200" lvl="1" indent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SQLite in This Project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internet connection required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storage consumption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device-local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49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33392-6AD9-4DF3-F53A-3E77C678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9855A61-6DEA-2538-F7CC-FC6CFC83A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D09EE7-EB88-AC32-B5CD-F6D214B3B238}"/>
              </a:ext>
            </a:extLst>
          </p:cNvPr>
          <p:cNvSpPr txBox="1"/>
          <p:nvPr/>
        </p:nvSpPr>
        <p:spPr>
          <a:xfrm>
            <a:off x="522514" y="1231641"/>
            <a:ext cx="114579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 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contains one main table for storing history records.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 : </a:t>
            </a: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US" sz="1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D5BED2-ECF8-E68F-E541-E091B9609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430660"/>
              </p:ext>
            </p:extLst>
          </p:nvPr>
        </p:nvGraphicFramePr>
        <p:xfrm>
          <a:off x="502298" y="2191156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507782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980129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45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Unique record ID (Primary Key)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438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Calculation entered by the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0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computed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56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Date and time of 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285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4C25B1-8CAC-FEDC-6752-B163E2B26A18}"/>
              </a:ext>
            </a:extLst>
          </p:cNvPr>
          <p:cNvSpPr txBox="1"/>
          <p:nvPr/>
        </p:nvSpPr>
        <p:spPr>
          <a:xfrm>
            <a:off x="494521" y="4198775"/>
            <a:ext cx="100210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(Auto-incremented)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performs a calculation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and result are generated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SQLite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history anytime from History screen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86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37A3C-8382-39B3-967D-88A0D277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71F7DF6-6738-433E-D19D-8757456D4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DURING PROJECT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B547F539-C8CE-761B-4056-4CBA48A75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1" y="1191695"/>
            <a:ext cx="11698287" cy="40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B218D-65B8-6454-5513-AA71AB552605}"/>
              </a:ext>
            </a:extLst>
          </p:cNvPr>
          <p:cNvSpPr txBox="1"/>
          <p:nvPr/>
        </p:nvSpPr>
        <p:spPr>
          <a:xfrm>
            <a:off x="289249" y="1129004"/>
            <a:ext cx="1100079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development of the Calculator application, we gained practical knowledge and hands-on experience in various technical and non-technical areas.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Android Application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design Android applications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use of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Activities, Layouts, and UI components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screens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Intent navigation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Interface (UI)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responsive layouts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manage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alignment, scrolling, and overlapping issues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 with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components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Mathematical Logic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logic for: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arithmetic calculations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operations (sin, cos, log, power, etc.)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and age calculations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edge cases like invalid inputs and operator errors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Database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use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Android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and retrieved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history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CRUD operations using a database helper class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05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CC0AB-930D-9885-9402-9A8D1742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D2B9491-5357-D0AF-CB97-3254DEAEA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DURING PROJECT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041CC755-20C4-B301-CAA9-715AD6CA4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1" y="1191695"/>
            <a:ext cx="11698287" cy="40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B74F9-9B2A-9A60-55B8-5C1A6E46ADB8}"/>
              </a:ext>
            </a:extLst>
          </p:cNvPr>
          <p:cNvSpPr txBox="1"/>
          <p:nvPr/>
        </p:nvSpPr>
        <p:spPr>
          <a:xfrm>
            <a:off x="363894" y="1073021"/>
            <a:ext cx="1100079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Debugging and Problem Solving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runtime errors and logical bugs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issues such as: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Auto-scroll behavior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notation formatting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drawer problems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and stability of the application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Navigation &amp; App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Drawer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smooth switching between multiple calculator modules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consistent UI across different screens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App Deployment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steps to: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signed APK / AAB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application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Play Store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app versions and updates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Teamwork &amp; Project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planning and time management skills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document code and features clearly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explaining technical concepts during presentations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Learning Outcome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enhanced our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skills, logical thinking, and problem-solving ability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gave us real-world experience in developing and publishing a complete Android application.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86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8A6EC-8FB8-61E7-5583-EDAB6011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09374A2-C8CF-B829-D289-D21FDE2C4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2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03C13DDC-CB58-7473-3FC9-C63B21A1E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880" y="1010276"/>
            <a:ext cx="11698287" cy="584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References :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Android Developers,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Android Developer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https://developer.android.com/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Oracle Corporation,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https://docs.oracle.com/javase/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Google Developers,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Guidelines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https://material.io/design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SQLite Consortium,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Official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https://www.sqlite.org/docs.html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W3Schools,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and Android Programming Tutorials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https://www.w3schools.com/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YouTube,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Android Development Tutorials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https://www.youtube.com/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Stack Overflow,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Community-Based Troubleshooting Platform for Android Developers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https://stackoverflow.com/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Google Play Console,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 Publishing Guidelines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  [Online]. Available: https://play.google.com/console/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  [Accessed: Sept. 10, 2026].</a:t>
            </a:r>
          </a:p>
        </p:txBody>
      </p:sp>
    </p:spTree>
    <p:extLst>
      <p:ext uri="{BB962C8B-B14F-4D97-AF65-F5344CB8AC3E}">
        <p14:creationId xmlns:p14="http://schemas.microsoft.com/office/powerpoint/2010/main" val="114503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BC489-9C96-5337-22A4-25A21270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5EB26B5-1482-89BF-9013-093678689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2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ABAC2585-A426-AC7D-80F5-69420F8F4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1" y="1096445"/>
            <a:ext cx="11698287" cy="2831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References :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Study materials and lecture notes provided by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Marwadi University, India.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Practical learning and hands-on experience gained during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development laboratory sessions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Continuous guidance, reviews, and technical suggestions provided by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and faculty members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project development.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Concepts and principles learned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Development, Java Programming, and Software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subjects as part of the academic curriculum.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180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6B3FB-2635-AB25-3E09-CDB66102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3571BB8-4348-5E2A-28D8-279E8F93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9FE5123D-1C05-270C-6967-CBF39EC5E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16" y="1220270"/>
            <a:ext cx="11698287" cy="4493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 Android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delivers a modern, accurate, and user-friendly mobile calculator designed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with Java and XML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integrating multiple calculator modules into a single application and enhancing it with a clean UI and smooth navigation, the system provides an efficient digital solution for everyday and advanced mathematical calculations.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Scientific Calculator Android application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basic arithmetic operations such as addition, subtraction, multiplication, and division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advanced scientific functions including trigonometric, logarithmic, power, and root operations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Age Calculator module for accurate age computation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Loan Calculator module to calculate interest and total payable amount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calculation history using SQLite database for result tracking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Degree and Radian mode switching for scientific calculations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a responsive, clean, and user-friendly interface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offline functionality without internet dependency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published and deployed the application on Google Play Store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Calculator project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meets its objectives by offering a reliable, feature-rich, and scalable mobile application. The project provides practical exposure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development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layouts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 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highly valuable for academic learning and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2858470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G2_7156_7257_Fitness_Hub_Presentation</Template>
  <TotalTime>128</TotalTime>
  <Words>2558</Words>
  <Application>Microsoft Office PowerPoint</Application>
  <PresentationFormat>Widescreen</PresentationFormat>
  <Paragraphs>332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INTRODUCTION</vt:lpstr>
      <vt:lpstr>PowerPoint Presentation</vt:lpstr>
      <vt:lpstr>OBJECTIVES OF THE PROJECT</vt:lpstr>
      <vt:lpstr>TECHNOLOGIES USED</vt:lpstr>
      <vt:lpstr>KEY FEATURES</vt:lpstr>
      <vt:lpstr>MODULES IN CALCULATOR</vt:lpstr>
      <vt:lpstr>TECHNICAL DESCRIPTION</vt:lpstr>
      <vt:lpstr>APP FEATURE SCREEN DESIGN</vt:lpstr>
      <vt:lpstr>APP LOGO PICTURE</vt:lpstr>
      <vt:lpstr>1. SCIENTIFIC CALCULATOR SCREEN </vt:lpstr>
      <vt:lpstr>2. CALCULATION SCREEN </vt:lpstr>
      <vt:lpstr>3. HISTORY SCREEN</vt:lpstr>
      <vt:lpstr>4. DRWAER MENU</vt:lpstr>
      <vt:lpstr>5. LOAN CALCULATOR SCREEN</vt:lpstr>
      <vt:lpstr>6. LOAN CALCULATION</vt:lpstr>
      <vt:lpstr>7. AGE CALCULATOR</vt:lpstr>
      <vt:lpstr>8. DATE OF BIRTH ENTERING</vt:lpstr>
      <vt:lpstr>9. AGE CALCULATION</vt:lpstr>
      <vt:lpstr>10. ABOUT US SCREEN</vt:lpstr>
      <vt:lpstr>DATABASE DESIGN</vt:lpstr>
      <vt:lpstr>DATABASE DESIGN</vt:lpstr>
      <vt:lpstr>LEARNING DURING PROJECT</vt:lpstr>
      <vt:lpstr>LEARNING DURING PROJECT</vt:lpstr>
      <vt:lpstr>BIBLIOGRAPHY</vt:lpstr>
      <vt:lpstr>BIBLIOGRAPHY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Jenish Gohel</dc:creator>
  <cp:lastModifiedBy>Jenish Gohel</cp:lastModifiedBy>
  <cp:revision>2</cp:revision>
  <dcterms:created xsi:type="dcterms:W3CDTF">2026-01-23T16:27:06Z</dcterms:created>
  <dcterms:modified xsi:type="dcterms:W3CDTF">2026-01-27T13:23:37Z</dcterms:modified>
</cp:coreProperties>
</file>